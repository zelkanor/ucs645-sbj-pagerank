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Hoves Bold" charset="1" panose="02000003020000060003"/>
      <p:regular r:id="rId18"/>
    </p:embeddedFont>
    <p:embeddedFont>
      <p:font typeface="Poppins" charset="1" panose="00000500000000000000"/>
      <p:regular r:id="rId19"/>
    </p:embeddedFont>
    <p:embeddedFont>
      <p:font typeface="Canva Sans" charset="1" panose="020B0503030501040103"/>
      <p:regular r:id="rId20"/>
    </p:embeddedFont>
    <p:embeddedFont>
      <p:font typeface="TT Hoves" charset="1" panose="02000003020000060003"/>
      <p:regular r:id="rId21"/>
    </p:embeddedFont>
    <p:embeddedFont>
      <p:font typeface="Lato Bold" charset="1" panose="020F0502020204030203"/>
      <p:regular r:id="rId22"/>
    </p:embeddedFont>
    <p:embeddedFont>
      <p:font typeface="Lato" charset="1" panose="020F0502020204030203"/>
      <p:regular r:id="rId23"/>
    </p:embeddedFont>
    <p:embeddedFont>
      <p:font typeface="Canva Sans Bold" charset="1" panose="020B0803030501040103"/>
      <p:regular r:id="rId24"/>
    </p:embeddedFont>
    <p:embeddedFont>
      <p:font typeface="Canva Sans Medium" charset="1" panose="020B06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1910" y="1942596"/>
            <a:ext cx="12662548" cy="320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b="true" sz="12998" spc="-636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UCS645- Project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79765" y="7610704"/>
            <a:ext cx="13232390" cy="332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81"/>
              </a:lnSpc>
            </a:pPr>
            <a:r>
              <a:rPr lang="en-US" sz="3381" spc="-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: Nikhil Krishna KN(102303512)</a:t>
            </a:r>
          </a:p>
          <a:p>
            <a:pPr algn="r">
              <a:lnSpc>
                <a:spcPts val="3381"/>
              </a:lnSpc>
            </a:pPr>
            <a:r>
              <a:rPr lang="en-US" sz="3381" spc="-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Lavisha(102303423)</a:t>
            </a:r>
          </a:p>
          <a:p>
            <a:pPr algn="r">
              <a:lnSpc>
                <a:spcPts val="3381"/>
              </a:lnSpc>
            </a:pPr>
            <a:r>
              <a:rPr lang="en-US" sz="3381" spc="-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Mannat Bhardwaj(102303148)</a:t>
            </a:r>
          </a:p>
          <a:p>
            <a:pPr algn="r">
              <a:lnSpc>
                <a:spcPts val="3381"/>
              </a:lnSpc>
            </a:pPr>
            <a:r>
              <a:rPr lang="en-US" sz="3381" spc="-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Shrestha Bhowmchik(102303878)</a:t>
            </a:r>
          </a:p>
          <a:p>
            <a:pPr algn="l">
              <a:lnSpc>
                <a:spcPts val="4081"/>
              </a:lnSpc>
            </a:pPr>
          </a:p>
          <a:p>
            <a:pPr algn="l">
              <a:lnSpc>
                <a:spcPts val="4081"/>
              </a:lnSpc>
            </a:pPr>
          </a:p>
          <a:p>
            <a:pPr algn="l">
              <a:lnSpc>
                <a:spcPts val="408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377461" y="335043"/>
            <a:ext cx="98886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Stochastic Block Jacobi PageRank Acceleration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6283442" y="-2295434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945" y="6357643"/>
            <a:ext cx="9987410" cy="1970742"/>
          </a:xfrm>
          <a:custGeom>
            <a:avLst/>
            <a:gdLst/>
            <a:ahLst/>
            <a:cxnLst/>
            <a:rect r="r" b="b" t="t" l="l"/>
            <a:pathLst>
              <a:path h="1970742" w="9987410">
                <a:moveTo>
                  <a:pt x="0" y="0"/>
                </a:moveTo>
                <a:lnTo>
                  <a:pt x="9987410" y="0"/>
                </a:lnTo>
                <a:lnTo>
                  <a:pt x="9987410" y="1970742"/>
                </a:lnTo>
                <a:lnTo>
                  <a:pt x="0" y="1970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6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49789" y="540629"/>
            <a:ext cx="9092810" cy="5422621"/>
          </a:xfrm>
          <a:custGeom>
            <a:avLst/>
            <a:gdLst/>
            <a:ahLst/>
            <a:cxnLst/>
            <a:rect r="r" b="b" t="t" l="l"/>
            <a:pathLst>
              <a:path h="5422621" w="9092810">
                <a:moveTo>
                  <a:pt x="0" y="0"/>
                </a:moveTo>
                <a:lnTo>
                  <a:pt x="9092810" y="0"/>
                </a:lnTo>
                <a:lnTo>
                  <a:pt x="9092810" y="5422621"/>
                </a:lnTo>
                <a:lnTo>
                  <a:pt x="0" y="5422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73204" y="-3449793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804" y="3098517"/>
            <a:ext cx="7225836" cy="203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891" indent="-262446" lvl="1">
              <a:lnSpc>
                <a:spcPts val="3282"/>
              </a:lnSpc>
              <a:spcBef>
                <a:spcPct val="0"/>
              </a:spcBef>
              <a:buFont typeface="Arial"/>
              <a:buChar char="•"/>
            </a:pPr>
            <a:r>
              <a:rPr lang="en-US" sz="2431" spc="145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2431" spc="145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arge-scale graphs are common (web, social networks)</a:t>
            </a:r>
          </a:p>
          <a:p>
            <a:pPr algn="just" marL="524891" indent="-262446" lvl="1">
              <a:lnSpc>
                <a:spcPts val="3282"/>
              </a:lnSpc>
              <a:spcBef>
                <a:spcPct val="0"/>
              </a:spcBef>
              <a:buFont typeface="Arial"/>
              <a:buChar char="•"/>
            </a:pPr>
            <a:r>
              <a:rPr lang="en-US" sz="2431" spc="145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Need to compute node importance efficiently</a:t>
            </a:r>
          </a:p>
          <a:p>
            <a:pPr algn="just" marL="524891" indent="-262446" lvl="1">
              <a:lnSpc>
                <a:spcPts val="3282"/>
              </a:lnSpc>
              <a:spcBef>
                <a:spcPct val="0"/>
              </a:spcBef>
              <a:buFont typeface="Arial"/>
              <a:buChar char="•"/>
            </a:pPr>
            <a:r>
              <a:rPr lang="en-US" sz="2431" spc="145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Existing</a:t>
            </a:r>
            <a:r>
              <a:rPr lang="en-US" sz="2431" spc="145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 methods struggle with scalability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2875"/>
            <a:ext cx="7424467" cy="26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28536" y="8099344"/>
            <a:ext cx="4351670" cy="280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68"/>
              </a:lnSpc>
            </a:pPr>
            <a:r>
              <a:rPr lang="en-US" b="true" sz="21987" spc="-1077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5945" y="8418645"/>
            <a:ext cx="6028067" cy="165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1943" spc="116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d= damping factor (≈ 0.85)</a:t>
            </a:r>
          </a:p>
          <a:p>
            <a:pPr algn="l">
              <a:lnSpc>
                <a:spcPts val="2623"/>
              </a:lnSpc>
            </a:pPr>
            <a:r>
              <a:rPr lang="en-US" sz="1943" spc="116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N= total number of nodes</a:t>
            </a:r>
          </a:p>
          <a:p>
            <a:pPr algn="l">
              <a:lnSpc>
                <a:spcPts val="2623"/>
              </a:lnSpc>
            </a:pPr>
            <a:r>
              <a:rPr lang="en-US" sz="1943" spc="116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out_deg(u) = number of outgoing links from u</a:t>
            </a:r>
          </a:p>
          <a:p>
            <a:pPr algn="l">
              <a:lnSpc>
                <a:spcPts val="2623"/>
              </a:lnSpc>
            </a:pPr>
            <a:r>
              <a:rPr lang="en-US" sz="1943" spc="116" u="none">
                <a:solidFill>
                  <a:srgbClr val="DADADA"/>
                </a:solidFill>
                <a:latin typeface="TT Hoves"/>
                <a:ea typeface="TT Hoves"/>
                <a:cs typeface="TT Hoves"/>
                <a:sym typeface="TT Hoves"/>
              </a:rPr>
              <a:t>Σ (u → v) → all nodes pointing to v</a:t>
            </a:r>
          </a:p>
          <a:p>
            <a:pPr algn="just" marL="0" indent="0" lvl="0">
              <a:lnSpc>
                <a:spcPts val="26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093" y="3965890"/>
            <a:ext cx="7202793" cy="5542364"/>
          </a:xfrm>
          <a:custGeom>
            <a:avLst/>
            <a:gdLst/>
            <a:ahLst/>
            <a:cxnLst/>
            <a:rect r="r" b="b" t="t" l="l"/>
            <a:pathLst>
              <a:path h="5542364" w="7202793">
                <a:moveTo>
                  <a:pt x="0" y="0"/>
                </a:moveTo>
                <a:lnTo>
                  <a:pt x="7202793" y="0"/>
                </a:lnTo>
                <a:lnTo>
                  <a:pt x="7202793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9" t="0" r="-402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495824" y="-7222957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7" y="0"/>
                </a:lnTo>
                <a:lnTo>
                  <a:pt x="16075317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706" y="316218"/>
            <a:ext cx="5942325" cy="318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16"/>
              </a:lnSpc>
            </a:pPr>
            <a:r>
              <a:rPr lang="en-US" b="true" sz="7920" spc="-388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Challenges in PageRank Computation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79493" y="370866"/>
            <a:ext cx="10791137" cy="2252858"/>
            <a:chOff x="0" y="0"/>
            <a:chExt cx="14388182" cy="300381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16484"/>
              <a:ext cx="12653566" cy="198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R</a:t>
              </a: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equires many iterations to converge</a:t>
              </a:r>
            </a:p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Recomputes all nodes each time</a:t>
              </a:r>
            </a:p>
            <a:p>
              <a:pPr algn="just">
                <a:lnSpc>
                  <a:spcPts val="4057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78285" y="-57150"/>
              <a:ext cx="13909897" cy="796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1"/>
                </a:lnSpc>
              </a:pPr>
              <a:r>
                <a:rPr lang="en-US" b="true" sz="3674" spc="220">
                  <a:solidFill>
                    <a:srgbClr val="DADAD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Iterative Computation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99323" y="2797233"/>
            <a:ext cx="8688677" cy="2759251"/>
            <a:chOff x="0" y="0"/>
            <a:chExt cx="11584902" cy="367900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16484"/>
              <a:ext cx="10188245" cy="2662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Pow</a:t>
              </a: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er-law graphs → few high-degree nodes</a:t>
              </a:r>
            </a:p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Most nodes have very few connections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85100" y="-57150"/>
              <a:ext cx="11199802" cy="796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1"/>
                </a:lnSpc>
              </a:pPr>
              <a:r>
                <a:rPr lang="en-US" b="true" sz="3674" spc="220">
                  <a:solidFill>
                    <a:srgbClr val="DADAD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Irregular Graph Structure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99323" y="6280979"/>
            <a:ext cx="10791137" cy="1746466"/>
            <a:chOff x="0" y="0"/>
            <a:chExt cx="14388182" cy="232862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16484"/>
              <a:ext cx="12653566" cy="1312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H</a:t>
              </a: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igh-degree nodes cause warp divergence</a:t>
              </a:r>
            </a:p>
            <a:p>
              <a:pPr algn="just" marL="648915" indent="-324458" lvl="1">
                <a:lnSpc>
                  <a:spcPts val="40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180" u="none">
                  <a:solidFill>
                    <a:srgbClr val="DADADA"/>
                  </a:solidFill>
                  <a:latin typeface="TT Hoves"/>
                  <a:ea typeface="TT Hoves"/>
                  <a:cs typeface="TT Hoves"/>
                  <a:sym typeface="TT Hoves"/>
                </a:rPr>
                <a:t>Uneven workload → poor utilization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78285" y="-57150"/>
              <a:ext cx="13909897" cy="796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1"/>
                </a:lnSpc>
              </a:pPr>
              <a:r>
                <a:rPr lang="en-US" b="true" sz="3674" spc="220">
                  <a:solidFill>
                    <a:srgbClr val="DADADA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GPU Inefficiency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746489" y="8466458"/>
            <a:ext cx="3025621" cy="195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0"/>
              </a:lnSpc>
            </a:pPr>
            <a:r>
              <a:rPr lang="en-US" b="true" sz="15287" spc="-749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66891" y="3642223"/>
            <a:ext cx="23621782" cy="23621782"/>
          </a:xfrm>
          <a:custGeom>
            <a:avLst/>
            <a:gdLst/>
            <a:ahLst/>
            <a:cxnLst/>
            <a:rect r="r" b="b" t="t" l="l"/>
            <a:pathLst>
              <a:path h="23621782" w="23621782">
                <a:moveTo>
                  <a:pt x="0" y="0"/>
                </a:moveTo>
                <a:lnTo>
                  <a:pt x="23621782" y="0"/>
                </a:lnTo>
                <a:lnTo>
                  <a:pt x="23621782" y="23621782"/>
                </a:lnTo>
                <a:lnTo>
                  <a:pt x="0" y="2362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678180" y="3240396"/>
          <a:ext cx="10507490" cy="6310239"/>
        </p:xfrm>
        <a:graphic>
          <a:graphicData uri="http://schemas.openxmlformats.org/drawingml/2006/table">
            <a:tbl>
              <a:tblPr/>
              <a:tblGrid>
                <a:gridCol w="5253745"/>
                <a:gridCol w="5253745"/>
              </a:tblGrid>
              <a:tr h="210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Full updates every iteration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Stochastic Sampling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Unstructured iterative 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Block-Jacobi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Load imbalance in parallel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 Hybrid CPU-GPU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567835" y="543412"/>
            <a:ext cx="9152330" cy="108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16"/>
              </a:lnSpc>
            </a:pPr>
            <a:r>
              <a:rPr lang="en-US" b="true" sz="7920" spc="-388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Proposed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67835" y="2259954"/>
            <a:ext cx="3516617" cy="6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5"/>
              </a:lnSpc>
            </a:pPr>
            <a:r>
              <a:rPr lang="en-US" b="true" sz="4100" spc="246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1658" y="2259954"/>
            <a:ext cx="3516617" cy="6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5"/>
              </a:lnSpc>
            </a:pPr>
            <a:r>
              <a:rPr lang="en-US" b="true" sz="4100" spc="246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-534883" y="144517"/>
            <a:ext cx="3025621" cy="195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4"/>
              </a:lnSpc>
            </a:pPr>
            <a:r>
              <a:rPr lang="en-US" b="true" sz="15387" spc="-75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8443" y="569649"/>
            <a:ext cx="9461813" cy="9315896"/>
          </a:xfrm>
          <a:custGeom>
            <a:avLst/>
            <a:gdLst/>
            <a:ahLst/>
            <a:cxnLst/>
            <a:rect r="r" b="b" t="t" l="l"/>
            <a:pathLst>
              <a:path h="9315896" w="9461813">
                <a:moveTo>
                  <a:pt x="0" y="0"/>
                </a:moveTo>
                <a:lnTo>
                  <a:pt x="9461812" y="0"/>
                </a:lnTo>
                <a:lnTo>
                  <a:pt x="9461812" y="9315896"/>
                </a:lnTo>
                <a:lnTo>
                  <a:pt x="0" y="931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820" t="-77777" r="-14744" b="-37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3301" y="-7170428"/>
            <a:ext cx="23621782" cy="23621782"/>
          </a:xfrm>
          <a:custGeom>
            <a:avLst/>
            <a:gdLst/>
            <a:ahLst/>
            <a:cxnLst/>
            <a:rect r="r" b="b" t="t" l="l"/>
            <a:pathLst>
              <a:path h="23621782" w="23621782">
                <a:moveTo>
                  <a:pt x="0" y="0"/>
                </a:moveTo>
                <a:lnTo>
                  <a:pt x="23621782" y="0"/>
                </a:lnTo>
                <a:lnTo>
                  <a:pt x="23621782" y="23621782"/>
                </a:lnTo>
                <a:lnTo>
                  <a:pt x="0" y="23621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0946" y="248805"/>
            <a:ext cx="9911336" cy="108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16"/>
              </a:lnSpc>
            </a:pPr>
            <a:r>
              <a:rPr lang="en-US" b="true" sz="7920" spc="-388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Block-Jacobi Method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315529"/>
            <a:ext cx="7707571" cy="1824137"/>
            <a:chOff x="0" y="0"/>
            <a:chExt cx="10276762" cy="24321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10276762" cy="657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HOW IT 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33730"/>
              <a:ext cx="10276762" cy="1798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5"/>
                </a:lnSpc>
              </a:pP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Uses values from previous iteration</a:t>
              </a:r>
            </a:p>
            <a:p>
              <a:pPr algn="l">
                <a:lnSpc>
                  <a:spcPts val="3645"/>
                </a:lnSpc>
              </a:pP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All nodes update simultaneously</a:t>
              </a:r>
            </a:p>
            <a:p>
              <a:pPr algn="l">
                <a:lnSpc>
                  <a:spcPts val="3645"/>
                </a:lnSpc>
              </a:pP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No dependency conflicts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112093"/>
            <a:ext cx="7088097" cy="1365220"/>
            <a:chOff x="0" y="0"/>
            <a:chExt cx="9450795" cy="182029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31484"/>
              <a:ext cx="9450795" cy="1188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44"/>
                </a:lnSpc>
                <a:spcBef>
                  <a:spcPct val="0"/>
                </a:spcBef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P</a:t>
              </a: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artition graph into independent blocks</a:t>
              </a:r>
            </a:p>
            <a:p>
              <a:pPr algn="just" marL="0" indent="0" lvl="0">
                <a:lnSpc>
                  <a:spcPts val="3644"/>
                </a:lnSpc>
                <a:spcBef>
                  <a:spcPct val="0"/>
                </a:spcBef>
              </a:pP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Update blocks in parallel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698746" cy="657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CORE 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977882"/>
            <a:ext cx="7707571" cy="2280418"/>
            <a:chOff x="0" y="0"/>
            <a:chExt cx="10276762" cy="304055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0276762" cy="657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WHY IT WORKS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32460"/>
              <a:ext cx="9450795" cy="240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4"/>
                </a:lnSpc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Enables safe p</a:t>
              </a: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arallel computation</a:t>
              </a:r>
            </a:p>
            <a:p>
              <a:pPr algn="l">
                <a:lnSpc>
                  <a:spcPts val="3644"/>
                </a:lnSpc>
              </a:pP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Eliminates need for locks/atomics</a:t>
              </a:r>
            </a:p>
            <a:p>
              <a:pPr algn="l">
                <a:lnSpc>
                  <a:spcPts val="3644"/>
                </a:lnSpc>
              </a:pP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Improves scalability</a:t>
              </a:r>
            </a:p>
            <a:p>
              <a:pPr algn="l">
                <a:lnSpc>
                  <a:spcPts val="364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2711" y="9174072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9864" y="1591621"/>
            <a:ext cx="8698136" cy="9096090"/>
          </a:xfrm>
          <a:custGeom>
            <a:avLst/>
            <a:gdLst/>
            <a:ahLst/>
            <a:cxnLst/>
            <a:rect r="r" b="b" t="t" l="l"/>
            <a:pathLst>
              <a:path h="9096090" w="8698136">
                <a:moveTo>
                  <a:pt x="0" y="0"/>
                </a:moveTo>
                <a:lnTo>
                  <a:pt x="8698136" y="0"/>
                </a:lnTo>
                <a:lnTo>
                  <a:pt x="8698136" y="9096090"/>
                </a:lnTo>
                <a:lnTo>
                  <a:pt x="0" y="909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3301" y="-7170428"/>
            <a:ext cx="23621782" cy="23621782"/>
          </a:xfrm>
          <a:custGeom>
            <a:avLst/>
            <a:gdLst/>
            <a:ahLst/>
            <a:cxnLst/>
            <a:rect r="r" b="b" t="t" l="l"/>
            <a:pathLst>
              <a:path h="23621782" w="23621782">
                <a:moveTo>
                  <a:pt x="0" y="0"/>
                </a:moveTo>
                <a:lnTo>
                  <a:pt x="23621782" y="0"/>
                </a:lnTo>
                <a:lnTo>
                  <a:pt x="23621782" y="23621782"/>
                </a:lnTo>
                <a:lnTo>
                  <a:pt x="0" y="23621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0946" y="248805"/>
            <a:ext cx="9911336" cy="108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16"/>
              </a:lnSpc>
            </a:pPr>
            <a:r>
              <a:rPr lang="en-US" b="true" sz="7920" spc="-388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Stochastic Sampling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315529"/>
            <a:ext cx="7707571" cy="1366904"/>
            <a:chOff x="0" y="0"/>
            <a:chExt cx="10276762" cy="18225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10276762" cy="657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HOW IT 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33730"/>
              <a:ext cx="10276762" cy="118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5"/>
                </a:lnSpc>
              </a:pP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Block-Jacobi still updates ALL blocks</a:t>
              </a:r>
            </a:p>
            <a:p>
              <a:pPr algn="l">
                <a:lnSpc>
                  <a:spcPts val="3645"/>
                </a:lnSpc>
              </a:pP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Many updates contribute very little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112093"/>
            <a:ext cx="7088097" cy="1822453"/>
            <a:chOff x="0" y="0"/>
            <a:chExt cx="9450795" cy="242993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31484"/>
              <a:ext cx="9450795" cy="1798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44"/>
                </a:lnSpc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Update only a subset of blocks each iteration</a:t>
              </a:r>
            </a:p>
            <a:p>
              <a:pPr algn="just" marL="0" indent="0" lvl="0">
                <a:lnSpc>
                  <a:spcPts val="3644"/>
                </a:lnSpc>
                <a:spcBef>
                  <a:spcPct val="0"/>
                </a:spcBef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Selected randomly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698746" cy="657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CORE IDEA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977882"/>
            <a:ext cx="7707571" cy="2280418"/>
            <a:chOff x="0" y="0"/>
            <a:chExt cx="10276762" cy="304055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0276762" cy="657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3099" spc="18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WHY IT WORKS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32460"/>
              <a:ext cx="9450795" cy="240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4"/>
                </a:lnSpc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Sample fraction r of blocks (e.g., 80%)</a:t>
              </a:r>
            </a:p>
            <a:p>
              <a:pPr algn="l">
                <a:lnSpc>
                  <a:spcPts val="3644"/>
                </a:lnSpc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Skip remaining blocks temporarily</a:t>
              </a:r>
            </a:p>
            <a:p>
              <a:pPr algn="l">
                <a:lnSpc>
                  <a:spcPts val="3644"/>
                </a:lnSpc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Rotate selection across iterations</a:t>
              </a:r>
            </a:p>
            <a:p>
              <a:pPr algn="l">
                <a:lnSpc>
                  <a:spcPts val="364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2711" y="9174072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088" y="1884286"/>
            <a:ext cx="18137824" cy="2047958"/>
            <a:chOff x="0" y="0"/>
            <a:chExt cx="24183766" cy="2730611"/>
          </a:xfrm>
        </p:grpSpPr>
        <p:sp>
          <p:nvSpPr>
            <p:cNvPr name="Freeform 3" id="3"/>
            <p:cNvSpPr/>
            <p:nvPr/>
          </p:nvSpPr>
          <p:spPr>
            <a:xfrm flipH="false" flipV="false" rot="498895">
              <a:off x="18366664" y="1616117"/>
              <a:ext cx="588183" cy="386062"/>
            </a:xfrm>
            <a:custGeom>
              <a:avLst/>
              <a:gdLst/>
              <a:ahLst/>
              <a:cxnLst/>
              <a:rect r="r" b="b" t="t" l="l"/>
              <a:pathLst>
                <a:path h="386062" w="588183">
                  <a:moveTo>
                    <a:pt x="0" y="0"/>
                  </a:moveTo>
                  <a:lnTo>
                    <a:pt x="588183" y="0"/>
                  </a:lnTo>
                  <a:lnTo>
                    <a:pt x="588183" y="386062"/>
                  </a:lnTo>
                  <a:lnTo>
                    <a:pt x="0" y="386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574518" y="928972"/>
              <a:ext cx="1340989" cy="880176"/>
            </a:xfrm>
            <a:custGeom>
              <a:avLst/>
              <a:gdLst/>
              <a:ahLst/>
              <a:cxnLst/>
              <a:rect r="r" b="b" t="t" l="l"/>
              <a:pathLst>
                <a:path h="880176" w="1340989">
                  <a:moveTo>
                    <a:pt x="0" y="0"/>
                  </a:moveTo>
                  <a:lnTo>
                    <a:pt x="1340988" y="0"/>
                  </a:lnTo>
                  <a:lnTo>
                    <a:pt x="1340988" y="880176"/>
                  </a:lnTo>
                  <a:lnTo>
                    <a:pt x="0" y="88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915506" y="714171"/>
              <a:ext cx="10276762" cy="1188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3645"/>
                </a:lnSpc>
                <a:buFont typeface="Arial"/>
                <a:buChar char="•"/>
              </a:pPr>
              <a:r>
                <a:rPr lang="en-US" b="true" sz="2700" spc="162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High-degree</a:t>
              </a: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 no</a:t>
              </a: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des → </a:t>
              </a:r>
              <a:r>
                <a:rPr lang="en-US" b="true" sz="2700" spc="162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CPU</a:t>
              </a:r>
            </a:p>
            <a:p>
              <a:pPr algn="l" marL="582930" indent="-291465" lvl="1">
                <a:lnSpc>
                  <a:spcPts val="3645"/>
                </a:lnSpc>
                <a:buFont typeface="Arial"/>
                <a:buChar char="•"/>
              </a:pPr>
              <a:r>
                <a:rPr lang="en-US" b="true" sz="2700" spc="162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Low-degree</a:t>
              </a:r>
              <a:r>
                <a:rPr lang="en-US" sz="2700" spc="16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 nodes →  </a:t>
              </a:r>
              <a:r>
                <a:rPr lang="en-US" b="true" sz="2700" spc="162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GPU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20339"/>
              <a:ext cx="9450795" cy="1188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5" indent="-291463" lvl="1">
                <a:lnSpc>
                  <a:spcPts val="3644"/>
                </a:lnSpc>
                <a:buFont typeface="Arial"/>
                <a:buChar char="•"/>
              </a:pPr>
              <a:r>
                <a:rPr lang="en-US" sz="2699" spc="16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Spli</a:t>
              </a: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t nodes based on degree</a:t>
              </a:r>
            </a:p>
            <a:p>
              <a:pPr algn="l" marL="582925" indent="-291463" lvl="1">
                <a:lnSpc>
                  <a:spcPts val="3644"/>
                </a:lnSpc>
                <a:buFont typeface="Arial"/>
                <a:buChar char="•"/>
              </a:pPr>
              <a:r>
                <a:rPr lang="en-US" sz="2699" spc="16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Assign work to best-suited hardware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91161" y="-38100"/>
              <a:ext cx="7698746" cy="657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b="true" sz="3099" spc="185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CORE IDEA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283163" y="271780"/>
              <a:ext cx="4900603" cy="245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9"/>
                </a:lnSpc>
              </a:pPr>
              <a:r>
                <a:rPr lang="en-US" sz="2199" spc="131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handles</a:t>
              </a:r>
              <a:r>
                <a:rPr lang="en-US" b="true" sz="2199" spc="13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 i</a:t>
              </a:r>
              <a:r>
                <a:rPr lang="en-US" b="true" sz="2199" spc="131" u="none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rregular, complex workloads</a:t>
              </a:r>
            </a:p>
            <a:p>
              <a:pPr algn="l">
                <a:lnSpc>
                  <a:spcPts val="2969"/>
                </a:lnSpc>
              </a:pPr>
            </a:p>
            <a:p>
              <a:pPr algn="l">
                <a:lnSpc>
                  <a:spcPts val="2969"/>
                </a:lnSpc>
              </a:pPr>
              <a:r>
                <a:rPr lang="en-US" sz="2199" spc="13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handles </a:t>
              </a:r>
              <a:r>
                <a:rPr lang="en-US" b="true" sz="2199" spc="131" u="none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large-scale parallel tasks</a:t>
              </a:r>
              <a:r>
                <a:rPr lang="en-US" sz="2199" spc="131" u="none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 efficiently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45030">
            <a:off x="13835482" y="2408491"/>
            <a:ext cx="441137" cy="289547"/>
          </a:xfrm>
          <a:custGeom>
            <a:avLst/>
            <a:gdLst/>
            <a:ahLst/>
            <a:cxnLst/>
            <a:rect r="r" b="b" t="t" l="l"/>
            <a:pathLst>
              <a:path h="289547" w="441137">
                <a:moveTo>
                  <a:pt x="0" y="0"/>
                </a:moveTo>
                <a:lnTo>
                  <a:pt x="441137" y="0"/>
                </a:lnTo>
                <a:lnTo>
                  <a:pt x="441137" y="289546"/>
                </a:lnTo>
                <a:lnTo>
                  <a:pt x="0" y="28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582146" y="5293398"/>
            <a:ext cx="7677154" cy="3067981"/>
          </a:xfrm>
          <a:custGeom>
            <a:avLst/>
            <a:gdLst/>
            <a:ahLst/>
            <a:cxnLst/>
            <a:rect r="r" b="b" t="t" l="l"/>
            <a:pathLst>
              <a:path h="3067981" w="7677154">
                <a:moveTo>
                  <a:pt x="0" y="0"/>
                </a:moveTo>
                <a:lnTo>
                  <a:pt x="7677154" y="0"/>
                </a:lnTo>
                <a:lnTo>
                  <a:pt x="7677154" y="3067980"/>
                </a:lnTo>
                <a:lnTo>
                  <a:pt x="0" y="3067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4561" y="3725013"/>
            <a:ext cx="6630986" cy="5939272"/>
          </a:xfrm>
          <a:custGeom>
            <a:avLst/>
            <a:gdLst/>
            <a:ahLst/>
            <a:cxnLst/>
            <a:rect r="r" b="b" t="t" l="l"/>
            <a:pathLst>
              <a:path h="5939272" w="6630986">
                <a:moveTo>
                  <a:pt x="0" y="0"/>
                </a:moveTo>
                <a:lnTo>
                  <a:pt x="6630986" y="0"/>
                </a:lnTo>
                <a:lnTo>
                  <a:pt x="6630986" y="5939272"/>
                </a:lnTo>
                <a:lnTo>
                  <a:pt x="0" y="5939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403" b="-446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120691"/>
            <a:ext cx="16115146" cy="163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9"/>
              </a:lnSpc>
            </a:pPr>
            <a:r>
              <a:rPr lang="en-US" b="true" sz="12494" spc="-58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 Hybrid CPU–GPU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020076" y="-3449513"/>
            <a:ext cx="23621782" cy="23621782"/>
          </a:xfrm>
          <a:custGeom>
            <a:avLst/>
            <a:gdLst/>
            <a:ahLst/>
            <a:cxnLst/>
            <a:rect r="r" b="b" t="t" l="l"/>
            <a:pathLst>
              <a:path h="23621782" w="23621782">
                <a:moveTo>
                  <a:pt x="0" y="0"/>
                </a:moveTo>
                <a:lnTo>
                  <a:pt x="23621782" y="0"/>
                </a:lnTo>
                <a:lnTo>
                  <a:pt x="23621782" y="23621782"/>
                </a:lnTo>
                <a:lnTo>
                  <a:pt x="0" y="23621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-142337" y="8649118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0351" y="265475"/>
            <a:ext cx="16115146" cy="108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6"/>
              </a:lnSpc>
            </a:pPr>
            <a:r>
              <a:rPr lang="en-US" b="true" sz="8295" spc="-38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25231" y="645489"/>
            <a:ext cx="8476978" cy="700474"/>
            <a:chOff x="0" y="0"/>
            <a:chExt cx="2232620" cy="184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2620" cy="184487"/>
            </a:xfrm>
            <a:custGeom>
              <a:avLst/>
              <a:gdLst/>
              <a:ahLst/>
              <a:cxnLst/>
              <a:rect r="r" b="b" t="t" l="l"/>
              <a:pathLst>
                <a:path h="184487" w="2232620">
                  <a:moveTo>
                    <a:pt x="91329" y="0"/>
                  </a:moveTo>
                  <a:lnTo>
                    <a:pt x="2141291" y="0"/>
                  </a:lnTo>
                  <a:cubicBezTo>
                    <a:pt x="2191730" y="0"/>
                    <a:pt x="2232620" y="40889"/>
                    <a:pt x="2232620" y="91329"/>
                  </a:cubicBezTo>
                  <a:lnTo>
                    <a:pt x="2232620" y="93158"/>
                  </a:lnTo>
                  <a:cubicBezTo>
                    <a:pt x="2232620" y="117380"/>
                    <a:pt x="2222997" y="140610"/>
                    <a:pt x="2205870" y="157737"/>
                  </a:cubicBezTo>
                  <a:cubicBezTo>
                    <a:pt x="2188743" y="174865"/>
                    <a:pt x="2165513" y="184487"/>
                    <a:pt x="2141291" y="184487"/>
                  </a:cubicBezTo>
                  <a:lnTo>
                    <a:pt x="91329" y="184487"/>
                  </a:lnTo>
                  <a:cubicBezTo>
                    <a:pt x="67107" y="184487"/>
                    <a:pt x="43877" y="174865"/>
                    <a:pt x="26750" y="157737"/>
                  </a:cubicBezTo>
                  <a:cubicBezTo>
                    <a:pt x="9622" y="140610"/>
                    <a:pt x="0" y="117380"/>
                    <a:pt x="0" y="93158"/>
                  </a:cubicBezTo>
                  <a:lnTo>
                    <a:pt x="0" y="91329"/>
                  </a:lnTo>
                  <a:cubicBezTo>
                    <a:pt x="0" y="67107"/>
                    <a:pt x="9622" y="43877"/>
                    <a:pt x="26750" y="26750"/>
                  </a:cubicBezTo>
                  <a:cubicBezTo>
                    <a:pt x="43877" y="9622"/>
                    <a:pt x="67107" y="0"/>
                    <a:pt x="91329" y="0"/>
                  </a:cubicBezTo>
                  <a:close/>
                </a:path>
              </a:pathLst>
            </a:custGeom>
            <a:solidFill>
              <a:srgbClr val="212121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232620" cy="19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0952" y="912583"/>
            <a:ext cx="141407" cy="141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33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834977" y="830886"/>
            <a:ext cx="2325846" cy="31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  <a:spcBef>
                <a:spcPct val="0"/>
              </a:spcBef>
            </a:pP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Data (Graph + CSR</a:t>
            </a: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37757" y="912583"/>
            <a:ext cx="141407" cy="14140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456098" y="830886"/>
            <a:ext cx="2492068" cy="61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CPU Lo</a:t>
            </a: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gic (OpenMP)</a:t>
            </a:r>
          </a:p>
          <a:p>
            <a:pPr algn="l">
              <a:lnSpc>
                <a:spcPts val="240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912080" y="912583"/>
            <a:ext cx="141407" cy="14140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184823" y="830886"/>
            <a:ext cx="2617385" cy="61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GPU Compute (CUDA</a:t>
            </a:r>
            <a:r>
              <a:rPr lang="en-US" b="true" sz="2006" spc="-40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  <a:p>
            <a:pPr algn="l">
              <a:lnSpc>
                <a:spcPts val="2407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45864" y="2284076"/>
            <a:ext cx="4599930" cy="2559550"/>
            <a:chOff x="0" y="0"/>
            <a:chExt cx="1211504" cy="674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5864" y="2378755"/>
            <a:ext cx="4599930" cy="2464871"/>
            <a:chOff x="0" y="0"/>
            <a:chExt cx="1211504" cy="6491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53705" y="2631722"/>
            <a:ext cx="3110496" cy="47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G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raph Input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4791" y="3503276"/>
            <a:ext cx="4102075" cy="108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70" indent="-259735" lvl="1">
              <a:lnSpc>
                <a:spcPts val="2887"/>
              </a:lnSpc>
              <a:buFont typeface="Arial"/>
              <a:buChar char="•"/>
            </a:pPr>
            <a:r>
              <a:rPr lang="en-US" sz="2406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Edge list / SNAP dataset</a:t>
            </a:r>
          </a:p>
          <a:p>
            <a:pPr algn="l" marL="519470" indent="-259735" lvl="1">
              <a:lnSpc>
                <a:spcPts val="2887"/>
              </a:lnSpc>
              <a:spcBef>
                <a:spcPct val="0"/>
              </a:spcBef>
              <a:buFont typeface="Arial"/>
              <a:buChar char="•"/>
            </a:pPr>
            <a:r>
              <a:rPr lang="en-US" sz="2406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Synth</a:t>
            </a:r>
            <a:r>
              <a:rPr lang="en-US" sz="2406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etic graph generation</a:t>
            </a:r>
          </a:p>
          <a:p>
            <a:pPr algn="l">
              <a:lnSpc>
                <a:spcPts val="2887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6544377" y="2284076"/>
            <a:ext cx="4599930" cy="2559550"/>
            <a:chOff x="0" y="0"/>
            <a:chExt cx="1211504" cy="674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44377" y="2378755"/>
            <a:ext cx="4599930" cy="2464871"/>
            <a:chOff x="0" y="0"/>
            <a:chExt cx="1211504" cy="64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461816" y="3169951"/>
            <a:ext cx="4682491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-46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Build</a:t>
            </a:r>
            <a:r>
              <a:rPr lang="en-US" sz="2300" spc="-46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 Transposed CSR layout to map in-neighbors.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46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2300" spc="-46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nables pull-based, lock-free rank updates (no atomics).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12502832" y="2284076"/>
            <a:ext cx="4599930" cy="2559550"/>
            <a:chOff x="0" y="0"/>
            <a:chExt cx="1211504" cy="674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02832" y="2378755"/>
            <a:ext cx="4599930" cy="2464871"/>
            <a:chOff x="0" y="0"/>
            <a:chExt cx="1211504" cy="6491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502832" y="3322284"/>
            <a:ext cx="4507541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Partition nodes into fixed-size bl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ocks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As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sign top P% to CPU pool; remainder to GPU pool.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708988" y="6270415"/>
            <a:ext cx="4599930" cy="2559550"/>
            <a:chOff x="0" y="0"/>
            <a:chExt cx="1211504" cy="674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8988" y="6365095"/>
            <a:ext cx="4599930" cy="2464871"/>
            <a:chOff x="0" y="0"/>
            <a:chExt cx="1211504" cy="6491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0625" y="6678119"/>
            <a:ext cx="385040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Overlapped 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Co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mpute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5348" y="7341901"/>
            <a:ext cx="4840962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CPU: Op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enMP threads proc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ess warp-breaking hubs.</a:t>
            </a:r>
          </a:p>
          <a:p>
            <a:pPr algn="ctr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GPU: CSR kernel concurrently computes the uniform tail.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6607502" y="6270415"/>
            <a:ext cx="4599930" cy="2559550"/>
            <a:chOff x="0" y="0"/>
            <a:chExt cx="1211504" cy="674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07502" y="6365095"/>
            <a:ext cx="4599930" cy="2464871"/>
            <a:chOff x="0" y="0"/>
            <a:chExt cx="1211504" cy="64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03590" y="6732301"/>
            <a:ext cx="400775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Asynchronous Dispatch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461816" y="7341901"/>
            <a:ext cx="488502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Qu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eue data transfers using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 Pinned Host Memory</a:t>
            </a:r>
          </a:p>
          <a:p>
            <a:pPr algn="ctr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Initiate n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on-blocking PCIe transfers via CUDA Streams.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</a:p>
        </p:txBody>
      </p:sp>
      <p:grpSp>
        <p:nvGrpSpPr>
          <p:cNvPr name="Group 56" id="56"/>
          <p:cNvGrpSpPr/>
          <p:nvPr/>
        </p:nvGrpSpPr>
        <p:grpSpPr>
          <a:xfrm rot="0">
            <a:off x="12565956" y="6270415"/>
            <a:ext cx="4599930" cy="2559550"/>
            <a:chOff x="0" y="0"/>
            <a:chExt cx="1211504" cy="674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1504" cy="674120"/>
            </a:xfrm>
            <a:custGeom>
              <a:avLst/>
              <a:gdLst/>
              <a:ahLst/>
              <a:cxnLst/>
              <a:rect r="r" b="b" t="t" l="l"/>
              <a:pathLst>
                <a:path h="674120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48874"/>
                  </a:lnTo>
                  <a:cubicBezTo>
                    <a:pt x="1211504" y="662817"/>
                    <a:pt x="1200201" y="674120"/>
                    <a:pt x="1186259" y="674120"/>
                  </a:cubicBezTo>
                  <a:lnTo>
                    <a:pt x="25246" y="674120"/>
                  </a:lnTo>
                  <a:cubicBezTo>
                    <a:pt x="18550" y="674120"/>
                    <a:pt x="12129" y="671460"/>
                    <a:pt x="7394" y="666726"/>
                  </a:cubicBezTo>
                  <a:cubicBezTo>
                    <a:pt x="2660" y="661991"/>
                    <a:pt x="0" y="655570"/>
                    <a:pt x="0" y="648874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211504" cy="68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65956" y="6365095"/>
            <a:ext cx="4599930" cy="2464871"/>
            <a:chOff x="0" y="0"/>
            <a:chExt cx="1211504" cy="64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1504" cy="649184"/>
            </a:xfrm>
            <a:custGeom>
              <a:avLst/>
              <a:gdLst/>
              <a:ahLst/>
              <a:cxnLst/>
              <a:rect r="r" b="b" t="t" l="l"/>
              <a:pathLst>
                <a:path h="649184" w="1211504">
                  <a:moveTo>
                    <a:pt x="25246" y="0"/>
                  </a:moveTo>
                  <a:lnTo>
                    <a:pt x="1186259" y="0"/>
                  </a:lnTo>
                  <a:cubicBezTo>
                    <a:pt x="1192954" y="0"/>
                    <a:pt x="1199375" y="2660"/>
                    <a:pt x="1204110" y="7394"/>
                  </a:cubicBezTo>
                  <a:cubicBezTo>
                    <a:pt x="1208844" y="12129"/>
                    <a:pt x="1211504" y="18550"/>
                    <a:pt x="1211504" y="25246"/>
                  </a:cubicBezTo>
                  <a:lnTo>
                    <a:pt x="1211504" y="623938"/>
                  </a:lnTo>
                  <a:cubicBezTo>
                    <a:pt x="1211504" y="637881"/>
                    <a:pt x="1200201" y="649184"/>
                    <a:pt x="1186259" y="649184"/>
                  </a:cubicBezTo>
                  <a:lnTo>
                    <a:pt x="25246" y="649184"/>
                  </a:lnTo>
                  <a:cubicBezTo>
                    <a:pt x="18550" y="649184"/>
                    <a:pt x="12129" y="646524"/>
                    <a:pt x="7394" y="641790"/>
                  </a:cubicBezTo>
                  <a:cubicBezTo>
                    <a:pt x="2660" y="637055"/>
                    <a:pt x="0" y="630634"/>
                    <a:pt x="0" y="623938"/>
                  </a:cubicBezTo>
                  <a:lnTo>
                    <a:pt x="0" y="25246"/>
                  </a:lnTo>
                  <a:cubicBezTo>
                    <a:pt x="0" y="18550"/>
                    <a:pt x="2660" y="12129"/>
                    <a:pt x="7394" y="7394"/>
                  </a:cubicBezTo>
                  <a:cubicBezTo>
                    <a:pt x="12129" y="2660"/>
                    <a:pt x="18550" y="0"/>
                    <a:pt x="25246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211504" cy="65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7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3066149" y="6678119"/>
            <a:ext cx="359954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Stochast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ic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 Sampling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534394" y="7250988"/>
            <a:ext cx="456836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Randomly shuffle and select active vertices per iteration.</a:t>
            </a:r>
          </a:p>
          <a:p>
            <a:pPr algn="ctr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Amortiz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es comput</a:t>
            </a:r>
            <a:r>
              <a:rPr lang="en-US" sz="2400" spc="-48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e cost on the slow-moving long tail.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AutoShape 64" id="64"/>
          <p:cNvSpPr/>
          <p:nvPr/>
        </p:nvSpPr>
        <p:spPr>
          <a:xfrm>
            <a:off x="5245794" y="3563851"/>
            <a:ext cx="1298584" cy="0"/>
          </a:xfrm>
          <a:prstGeom prst="line">
            <a:avLst/>
          </a:prstGeom>
          <a:ln cap="flat" w="95250">
            <a:solidFill>
              <a:srgbClr val="EFEF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>
            <a:off x="11144307" y="3563851"/>
            <a:ext cx="1358524" cy="0"/>
          </a:xfrm>
          <a:prstGeom prst="line">
            <a:avLst/>
          </a:prstGeom>
          <a:ln cap="flat" w="95250">
            <a:solidFill>
              <a:srgbClr val="EFEF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6" id="66"/>
          <p:cNvSpPr/>
          <p:nvPr/>
        </p:nvSpPr>
        <p:spPr>
          <a:xfrm>
            <a:off x="17102762" y="3563851"/>
            <a:ext cx="63124" cy="3986339"/>
          </a:xfrm>
          <a:prstGeom prst="line">
            <a:avLst/>
          </a:prstGeom>
          <a:ln cap="flat" w="95250">
            <a:solidFill>
              <a:srgbClr val="EFEF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7" id="67"/>
          <p:cNvSpPr/>
          <p:nvPr/>
        </p:nvSpPr>
        <p:spPr>
          <a:xfrm flipH="true" flipV="true">
            <a:off x="11207432" y="7550191"/>
            <a:ext cx="1358524" cy="0"/>
          </a:xfrm>
          <a:prstGeom prst="line">
            <a:avLst/>
          </a:prstGeom>
          <a:ln cap="flat" w="95250">
            <a:solidFill>
              <a:srgbClr val="EFEF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8" id="68"/>
          <p:cNvSpPr/>
          <p:nvPr/>
        </p:nvSpPr>
        <p:spPr>
          <a:xfrm flipH="true">
            <a:off x="5308918" y="7550191"/>
            <a:ext cx="1298584" cy="0"/>
          </a:xfrm>
          <a:prstGeom prst="line">
            <a:avLst/>
          </a:prstGeom>
          <a:ln cap="flat" w="95250">
            <a:solidFill>
              <a:srgbClr val="EFEF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-2015518" y="-18092272"/>
            <a:ext cx="22681497" cy="22681497"/>
          </a:xfrm>
          <a:custGeom>
            <a:avLst/>
            <a:gdLst/>
            <a:ahLst/>
            <a:cxnLst/>
            <a:rect r="r" b="b" t="t" l="l"/>
            <a:pathLst>
              <a:path h="22681497" w="22681497">
                <a:moveTo>
                  <a:pt x="0" y="0"/>
                </a:moveTo>
                <a:lnTo>
                  <a:pt x="22681498" y="0"/>
                </a:lnTo>
                <a:lnTo>
                  <a:pt x="22681498" y="22681497"/>
                </a:lnTo>
                <a:lnTo>
                  <a:pt x="0" y="22681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3047157" y="2631738"/>
            <a:ext cx="357440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Degre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e Partitioning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953808" y="2569793"/>
            <a:ext cx="39073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CSR T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ransform</a:t>
            </a:r>
            <a:r>
              <a:rPr lang="en-US" b="true" sz="3106" spc="-62">
                <a:solidFill>
                  <a:srgbClr val="EFEFEF"/>
                </a:solidFill>
                <a:latin typeface="Lato Bold"/>
                <a:ea typeface="Lato Bold"/>
                <a:cs typeface="Lato Bold"/>
                <a:sym typeface="Lato Bold"/>
              </a:rPr>
              <a:t>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-276246" y="8870840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749164" y="-6197249"/>
            <a:ext cx="22681497" cy="22681497"/>
          </a:xfrm>
          <a:custGeom>
            <a:avLst/>
            <a:gdLst/>
            <a:ahLst/>
            <a:cxnLst/>
            <a:rect r="r" b="b" t="t" l="l"/>
            <a:pathLst>
              <a:path h="22681497" w="22681497">
                <a:moveTo>
                  <a:pt x="0" y="0"/>
                </a:moveTo>
                <a:lnTo>
                  <a:pt x="22681498" y="0"/>
                </a:lnTo>
                <a:lnTo>
                  <a:pt x="22681498" y="22681498"/>
                </a:lnTo>
                <a:lnTo>
                  <a:pt x="0" y="2268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32012" y="-2157044"/>
            <a:ext cx="1311975" cy="19612945"/>
            <a:chOff x="0" y="0"/>
            <a:chExt cx="345541" cy="5165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541" cy="5165549"/>
            </a:xfrm>
            <a:custGeom>
              <a:avLst/>
              <a:gdLst/>
              <a:ahLst/>
              <a:cxnLst/>
              <a:rect r="r" b="b" t="t" l="l"/>
              <a:pathLst>
                <a:path h="5165549" w="345541">
                  <a:moveTo>
                    <a:pt x="0" y="0"/>
                  </a:moveTo>
                  <a:lnTo>
                    <a:pt x="345541" y="0"/>
                  </a:lnTo>
                  <a:lnTo>
                    <a:pt x="345541" y="5165549"/>
                  </a:lnTo>
                  <a:lnTo>
                    <a:pt x="0" y="5165549"/>
                  </a:lnTo>
                  <a:close/>
                </a:path>
              </a:pathLst>
            </a:custGeom>
            <a:solidFill>
              <a:srgbClr val="DADAD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45541" cy="5222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81704" y="3264666"/>
            <a:ext cx="11301259" cy="1878834"/>
          </a:xfrm>
          <a:custGeom>
            <a:avLst/>
            <a:gdLst/>
            <a:ahLst/>
            <a:cxnLst/>
            <a:rect r="r" b="b" t="t" l="l"/>
            <a:pathLst>
              <a:path h="1878834" w="11301259">
                <a:moveTo>
                  <a:pt x="0" y="0"/>
                </a:moveTo>
                <a:lnTo>
                  <a:pt x="11301259" y="0"/>
                </a:lnTo>
                <a:lnTo>
                  <a:pt x="11301259" y="1878834"/>
                </a:lnTo>
                <a:lnTo>
                  <a:pt x="0" y="1878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1704" y="361507"/>
            <a:ext cx="13486917" cy="2382557"/>
            <a:chOff x="0" y="0"/>
            <a:chExt cx="17982556" cy="31767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28600"/>
              <a:ext cx="17982556" cy="1940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374"/>
                </a:lnSpc>
              </a:pPr>
              <a:r>
                <a:rPr lang="en-US" b="true" sz="10695" spc="-502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RESULTS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73963"/>
              <a:ext cx="17982556" cy="902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50"/>
                </a:lnSpc>
              </a:pPr>
              <a:r>
                <a:rPr lang="en-US" b="true" sz="5000" spc="-235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CPU-Only Performance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32501" y="2434504"/>
            <a:ext cx="5326799" cy="50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753" indent="-220877" lvl="1">
              <a:lnSpc>
                <a:spcPts val="2864"/>
              </a:lnSpc>
              <a:buFont typeface="Arial"/>
              <a:buChar char="•"/>
            </a:pPr>
            <a:r>
              <a:rPr lang="en-US" sz="20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Tested o</a:t>
            </a:r>
            <a:r>
              <a:rPr lang="en-US" sz="20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real-world SNAP datasets (social and web g</a:t>
            </a:r>
            <a:r>
              <a:rPr lang="en-US" sz="20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raphs with up to 68M edges).</a:t>
            </a:r>
          </a:p>
          <a:p>
            <a:pPr algn="just">
              <a:lnSpc>
                <a:spcPts val="2864"/>
              </a:lnSpc>
            </a:pPr>
          </a:p>
          <a:p>
            <a:pPr algn="just" marL="441753" indent="-220877" lvl="1">
              <a:lnSpc>
                <a:spcPts val="2864"/>
              </a:lnSpc>
              <a:buFont typeface="Arial"/>
              <a:buChar char="•"/>
            </a:pPr>
            <a:r>
              <a:rPr lang="en-US" sz="20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 Hardware Acceleration: Hybrid engine uses true asynchronous overlap via CUDA streams and pinned memory.</a:t>
            </a:r>
          </a:p>
          <a:p>
            <a:pPr algn="just">
              <a:lnSpc>
                <a:spcPts val="2864"/>
              </a:lnSpc>
            </a:pPr>
          </a:p>
          <a:p>
            <a:pPr algn="just" marL="441753" indent="-220877" lvl="1">
              <a:lnSpc>
                <a:spcPts val="2864"/>
              </a:lnSpc>
              <a:buFont typeface="Arial"/>
              <a:buChar char="•"/>
            </a:pPr>
            <a:r>
              <a:rPr lang="en-US" sz="20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Compared 4 Engines: Sequential, OpenMP, Pure CUDA, and an Optimal Hybrid configuration.</a:t>
            </a:r>
          </a:p>
          <a:p>
            <a:pPr algn="just">
              <a:lnSpc>
                <a:spcPts val="2864"/>
              </a:lnSpc>
            </a:pPr>
          </a:p>
          <a:p>
            <a:pPr algn="just">
              <a:lnSpc>
                <a:spcPts val="28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494614" y="39147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315" y="5437970"/>
            <a:ext cx="8117807" cy="438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3846" indent="-206923" lvl="1">
              <a:lnSpc>
                <a:spcPts val="2683"/>
              </a:lnSpc>
              <a:buFont typeface="Arial"/>
              <a:buChar char="•"/>
            </a:pP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Hybrid wins on skewed, smaller</a:t>
            </a: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graphs: Achieved a 2.05× peak speedup on soc-Epinions (hd=2) by successfully masking GPU warp divergence.</a:t>
            </a:r>
          </a:p>
          <a:p>
            <a:pPr algn="just">
              <a:lnSpc>
                <a:spcPts val="2683"/>
              </a:lnSpc>
            </a:pPr>
          </a:p>
          <a:p>
            <a:pPr algn="just" marL="413846" indent="-206923" lvl="1">
              <a:lnSpc>
                <a:spcPts val="2683"/>
              </a:lnSpc>
              <a:buFont typeface="Arial"/>
              <a:buChar char="•"/>
            </a:pP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</a:t>
            </a: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 CUDA dominates massive graphs: Achieved up to 24.6× speedup on LiveJournal, proving that avoiding PCIe transfers is critica</a:t>
            </a: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 at scale.</a:t>
            </a:r>
          </a:p>
          <a:p>
            <a:pPr algn="just">
              <a:lnSpc>
                <a:spcPts val="2683"/>
              </a:lnSpc>
            </a:pPr>
          </a:p>
          <a:p>
            <a:pPr algn="just" marL="413846" indent="-206923" lvl="1">
              <a:lnSpc>
                <a:spcPts val="2683"/>
              </a:lnSpc>
              <a:buFont typeface="Arial"/>
              <a:buChar char="•"/>
            </a:pP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PCI</a:t>
            </a:r>
            <a:r>
              <a:rPr lang="en-US" b="true" sz="191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Floor: Hybrid scaling on large graphs is physically capped by the motherboard's PCIe bandwidth (~0.5s per 50 round trips), exposing a fundamental hardware limitation.</a:t>
            </a:r>
          </a:p>
          <a:p>
            <a:pPr algn="just">
              <a:lnSpc>
                <a:spcPts val="2683"/>
              </a:lnSpc>
            </a:pPr>
          </a:p>
          <a:p>
            <a:pPr algn="just">
              <a:lnSpc>
                <a:spcPts val="268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30258" y="705753"/>
            <a:ext cx="13486917" cy="139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374"/>
              </a:lnSpc>
            </a:pPr>
            <a:r>
              <a:rPr lang="en-US" b="true" sz="10695" spc="-502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6749164" y="-6197249"/>
            <a:ext cx="22681497" cy="22681497"/>
          </a:xfrm>
          <a:custGeom>
            <a:avLst/>
            <a:gdLst/>
            <a:ahLst/>
            <a:cxnLst/>
            <a:rect r="r" b="b" t="t" l="l"/>
            <a:pathLst>
              <a:path h="22681497" w="22681497">
                <a:moveTo>
                  <a:pt x="0" y="0"/>
                </a:moveTo>
                <a:lnTo>
                  <a:pt x="22681498" y="0"/>
                </a:lnTo>
                <a:lnTo>
                  <a:pt x="22681498" y="22681498"/>
                </a:lnTo>
                <a:lnTo>
                  <a:pt x="0" y="2268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9560" y="1957850"/>
            <a:ext cx="13486917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50"/>
              </a:lnSpc>
            </a:pPr>
            <a:r>
              <a:rPr lang="en-US" b="true" sz="5000" spc="-23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84380" y="2561100"/>
            <a:ext cx="7432795" cy="754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</a:p>
          <a:p>
            <a:pPr algn="l" marL="439938" indent="-219969" lvl="1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methods exhibit stable log-linear scaling, confi</a:t>
            </a: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rming optimal O(|E|) algorithmic efficiency across engines.</a:t>
            </a:r>
          </a:p>
          <a:p>
            <a:pPr algn="l">
              <a:lnSpc>
                <a:spcPts val="2852"/>
              </a:lnSpc>
            </a:pPr>
          </a:p>
          <a:p>
            <a:pPr algn="l" marL="439938" indent="-219969" lvl="1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PCIe Floor is visually confirmed at scale: the Hybrid engine's execution time flattens out because PCIe transfer latency eventually dwarfs the actual GPU computation time.</a:t>
            </a:r>
          </a:p>
          <a:p>
            <a:pPr algn="l">
              <a:lnSpc>
                <a:spcPts val="2852"/>
              </a:lnSpc>
            </a:pPr>
          </a:p>
          <a:p>
            <a:pPr algn="l" marL="439938" indent="-219969" lvl="1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OpenM</a:t>
            </a: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 provides a stable, moderate acceleration baseline (~6–8×) regardless of graph size.</a:t>
            </a:r>
          </a:p>
          <a:p>
            <a:pPr algn="l">
              <a:lnSpc>
                <a:spcPts val="2852"/>
              </a:lnSpc>
            </a:pPr>
          </a:p>
          <a:p>
            <a:pPr algn="l" marL="439938" indent="-219969" lvl="1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Hybrid peaks early, achieving optimal efficiency on smaller networks where it successfully masks warp divergence without triggering PCIe bottlenecks.</a:t>
            </a:r>
          </a:p>
          <a:p>
            <a:pPr algn="l">
              <a:lnSpc>
                <a:spcPts val="2852"/>
              </a:lnSpc>
            </a:pPr>
          </a:p>
          <a:p>
            <a:pPr algn="l" marL="439938" indent="-219969" lvl="1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Pure CUDA acceleration scales exponentially with graph size (reaching ~25×), proving that massive VRAM bandwidth completely overwhelms divergence penalties at scale.</a:t>
            </a:r>
          </a:p>
          <a:p>
            <a:pPr algn="l">
              <a:lnSpc>
                <a:spcPts val="285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8885" y="477153"/>
            <a:ext cx="7001351" cy="4008251"/>
          </a:xfrm>
          <a:custGeom>
            <a:avLst/>
            <a:gdLst/>
            <a:ahLst/>
            <a:cxnLst/>
            <a:rect r="r" b="b" t="t" l="l"/>
            <a:pathLst>
              <a:path h="4008251" w="7001351">
                <a:moveTo>
                  <a:pt x="0" y="0"/>
                </a:moveTo>
                <a:lnTo>
                  <a:pt x="7001351" y="0"/>
                </a:lnTo>
                <a:lnTo>
                  <a:pt x="7001351" y="4008251"/>
                </a:lnTo>
                <a:lnTo>
                  <a:pt x="0" y="4008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88" r="0" b="-818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42337" y="8773361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8885" y="4714888"/>
            <a:ext cx="6143195" cy="4072859"/>
          </a:xfrm>
          <a:custGeom>
            <a:avLst/>
            <a:gdLst/>
            <a:ahLst/>
            <a:cxnLst/>
            <a:rect r="r" b="b" t="t" l="l"/>
            <a:pathLst>
              <a:path h="4072859" w="6143195">
                <a:moveTo>
                  <a:pt x="0" y="0"/>
                </a:moveTo>
                <a:lnTo>
                  <a:pt x="6143195" y="0"/>
                </a:lnTo>
                <a:lnTo>
                  <a:pt x="6143195" y="4072859"/>
                </a:lnTo>
                <a:lnTo>
                  <a:pt x="0" y="40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6" r="0" b="-24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0532" y="22307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69" y="0"/>
                </a:lnTo>
                <a:lnTo>
                  <a:pt x="8743569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" r="0" b="-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191" y="-22908"/>
            <a:ext cx="170361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5194" y="1962025"/>
            <a:ext cx="6892" cy="63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13375" y="2363835"/>
            <a:ext cx="7531521" cy="603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429" indent="-264715" lvl="1">
              <a:lnSpc>
                <a:spcPts val="3433"/>
              </a:lnSpc>
              <a:buFont typeface="Arial"/>
              <a:buChar char="•"/>
            </a:pPr>
            <a:r>
              <a:rPr lang="en-US" b="true" sz="2452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Achieved full async CPU-GPU overlap using CUDA streams and pinned memory.</a:t>
            </a:r>
          </a:p>
          <a:p>
            <a:pPr algn="l">
              <a:lnSpc>
                <a:spcPts val="3433"/>
              </a:lnSpc>
            </a:pPr>
          </a:p>
          <a:p>
            <a:pPr algn="l" marL="529429" indent="-264715" lvl="1">
              <a:lnSpc>
                <a:spcPts val="3433"/>
              </a:lnSpc>
              <a:buFont typeface="Arial"/>
              <a:buChar char="•"/>
            </a:pPr>
            <a:r>
              <a:rPr lang="en-US" b="true" sz="2452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Offloading hubs to the CPU maximizes efficiency on skewed graphs (e.g., soc-Epinions).</a:t>
            </a:r>
          </a:p>
          <a:p>
            <a:pPr algn="l">
              <a:lnSpc>
                <a:spcPts val="3433"/>
              </a:lnSpc>
            </a:pPr>
          </a:p>
          <a:p>
            <a:pPr algn="l" marL="529429" indent="-264715" lvl="1">
              <a:lnSpc>
                <a:spcPts val="3433"/>
              </a:lnSpc>
              <a:buFont typeface="Arial"/>
              <a:buChar char="•"/>
            </a:pPr>
            <a:r>
              <a:rPr lang="en-US" b="true" sz="2452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Transfer latency caps Hybrid scaling. Pure GPU wins on massive graphs by keeping data in VRAM.</a:t>
            </a:r>
          </a:p>
          <a:p>
            <a:pPr algn="l">
              <a:lnSpc>
                <a:spcPts val="3433"/>
              </a:lnSpc>
            </a:pPr>
          </a:p>
          <a:p>
            <a:pPr algn="l" marL="529429" indent="-264715" lvl="1">
              <a:lnSpc>
                <a:spcPts val="3433"/>
              </a:lnSpc>
              <a:buFont typeface="Arial"/>
              <a:buChar char="•"/>
            </a:pPr>
            <a:r>
              <a:rPr lang="en-US" b="true" sz="2452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Bypassing PCIe limits requires NVLink (unified memory) or NCCL (multi-GPU architectures).</a:t>
            </a:r>
          </a:p>
          <a:p>
            <a:pPr algn="l">
              <a:lnSpc>
                <a:spcPts val="343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6722616" y="-6454106"/>
            <a:ext cx="22681497" cy="22681497"/>
          </a:xfrm>
          <a:custGeom>
            <a:avLst/>
            <a:gdLst/>
            <a:ahLst/>
            <a:cxnLst/>
            <a:rect r="r" b="b" t="t" l="l"/>
            <a:pathLst>
              <a:path h="22681497" w="22681497">
                <a:moveTo>
                  <a:pt x="0" y="0"/>
                </a:moveTo>
                <a:lnTo>
                  <a:pt x="22681497" y="0"/>
                </a:lnTo>
                <a:lnTo>
                  <a:pt x="22681497" y="22681497"/>
                </a:lnTo>
                <a:lnTo>
                  <a:pt x="0" y="22681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344143" y="29997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00364" y="4274503"/>
            <a:ext cx="667774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05194" y="1962025"/>
            <a:ext cx="6892" cy="63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6722616" y="-6454106"/>
            <a:ext cx="22681497" cy="22681497"/>
          </a:xfrm>
          <a:custGeom>
            <a:avLst/>
            <a:gdLst/>
            <a:ahLst/>
            <a:cxnLst/>
            <a:rect r="r" b="b" t="t" l="l"/>
            <a:pathLst>
              <a:path h="22681497" w="22681497">
                <a:moveTo>
                  <a:pt x="0" y="0"/>
                </a:moveTo>
                <a:lnTo>
                  <a:pt x="22681497" y="0"/>
                </a:lnTo>
                <a:lnTo>
                  <a:pt x="22681497" y="22681497"/>
                </a:lnTo>
                <a:lnTo>
                  <a:pt x="0" y="22681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44143" y="29997"/>
            <a:ext cx="2342074" cy="15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b="true" sz="11911" spc="-583">
                <a:solidFill>
                  <a:srgbClr val="DADADA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DAHIV3-hqwQ</dc:identifier>
  <dcterms:modified xsi:type="dcterms:W3CDTF">2011-08-01T06:04:30Z</dcterms:modified>
  <cp:revision>1</cp:revision>
  <dc:title>Blue Modern Project Presentation</dc:title>
</cp:coreProperties>
</file>